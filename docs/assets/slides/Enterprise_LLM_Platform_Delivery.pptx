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7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7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701.xlsx"/>
</Relationships>
</file>

<file path=ppt/charts/chart7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传统开源基线 (Baseline)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万卡 MFU 算力 (%)</c:v>
                </c:pt>
                <c:pt idx="1">
                  <c:v>推理吞吐 (k tok/s)</c:v>
                </c:pt>
                <c:pt idx="2">
                  <c:v>显存利用率 (%)</c:v>
                </c:pt>
                <c:pt idx="3">
                  <c:v>自愈加速比 (倍)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38.5</c:v>
                </c:pt>
                <c:pt idx="1">
                  <c:v>4.2</c:v>
                </c:pt>
                <c:pt idx="2">
                  <c:v>31.8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平台交付达标 (Optimized)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万卡 MFU 算力 (%)</c:v>
                </c:pt>
                <c:pt idx="1">
                  <c:v>推理吞吐 (k tok/s)</c:v>
                </c:pt>
                <c:pt idx="2">
                  <c:v>显存利用率 (%)</c:v>
                </c:pt>
                <c:pt idx="3">
                  <c:v>自愈加速比 (倍)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62.8</c:v>
                </c:pt>
                <c:pt idx="1">
                  <c:v>12.6</c:v>
                </c:pt>
                <c:pt idx="2">
                  <c:v>96.2</c:v>
                </c:pt>
                <c:pt idx="3">
                  <c:v>27.5</c:v>
                </c:pt>
              </c:numCache>
            </c:numRef>
          </c:val>
        </c:ser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404040"/>
            </a:solidFill>
            <a:round/>
          </a:ln>
        </c:spPr>
        <c:txPr>
          <a:bodyPr/>
          <a:lstStyle/>
          <a:p>
            <a:pPr>
              <a:defRPr lang="zh-CN" sz="900">
                <a:solidFill>
                  <a:srgbClr val="404040"/>
                </a:solidFill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9DED8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404040"/>
            </a:solidFill>
            <a:round/>
          </a:ln>
        </c:spPr>
        <c:txPr>
          <a:bodyPr/>
          <a:lstStyle/>
          <a:p>
            <a:pPr>
              <a:defRPr lang="zh-CN" sz="900">
                <a:solidFill>
                  <a:srgbClr val="404040"/>
                </a:solidFill>
              </a:defRPr>
            </a:pPr>
            <a:endParaRPr lang="zh-CN"/>
          </a:p>
        </c:txPr>
        <c:crossAx val="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900">
          <a:solidFill>
            <a:srgbClr val="404040"/>
          </a:solidFill>
        </a:defRPr>
      </a:pPr>
      <a:endParaRPr lang="zh-CN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nterprise_llm_platfor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nterprise_llm_platfor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701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ystem-header"/>
          <p:cNvGrpSpPr/>
          <p:nvPr/>
        </p:nvGrpSpPr>
        <p:grpSpPr>
          <a:xfrm>
            <a:off x="566738" y="244316"/>
            <a:ext cx="11058524" cy="193834"/>
            <a:chOff x="566738" y="244316"/>
            <a:chExt cx="11058524" cy="193834"/>
          </a:xfrm>
        </p:grpSpPr>
        <p:sp>
          <p:nvSpPr>
            <p:cNvPr id="2" name="Line 2"/>
            <p:cNvSpPr/>
            <p:nvPr/>
          </p:nvSpPr>
          <p:spPr>
            <a:xfrm>
              <a:off x="571500" y="428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738" y="244316"/>
              <a:ext cx="20865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INFRASTRUCTURE ODYSSEY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328862" y="244316"/>
              <a:ext cx="38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471738" y="244316"/>
              <a:ext cx="18889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ENTERPRISE DELIVERY REPORT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405773" y="244316"/>
              <a:ext cx="22194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PRODUCTION GRADE · 100% VERIFIED</a:t>
              </a:r>
            </a:p>
          </p:txBody>
        </p:sp>
      </p:grpSp>
      <p:grpSp>
        <p:nvGrpSpPr>
          <p:cNvPr id="24" name="hero-section"/>
          <p:cNvGrpSpPr/>
          <p:nvPr/>
        </p:nvGrpSpPr>
        <p:grpSpPr>
          <a:xfrm>
            <a:off x="571500" y="714375"/>
            <a:ext cx="4667250" cy="5572125"/>
            <a:chOff x="571500" y="714375"/>
            <a:chExt cx="4667250" cy="5572125"/>
          </a:xfrm>
        </p:grpSpPr>
        <p:sp>
          <p:nvSpPr>
            <p:cNvPr id="8" name="Rectangle 8"/>
            <p:cNvSpPr/>
            <p:nvPr/>
          </p:nvSpPr>
          <p:spPr>
            <a:xfrm>
              <a:off x="571500" y="714375"/>
              <a:ext cx="4667250" cy="55721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714375"/>
              <a:ext cx="57150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0112" y="1093470"/>
              <a:ext cx="28416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CAPSTONE DELIVERY · FINAL STAGE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1159" y="1375410"/>
              <a:ext cx="2770632" cy="9852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企业级大模型</a:t>
              </a:r>
              <a:br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算力平台交付汇报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8017" y="24260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全栈工程体系建设与生产级验收闭环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04875" y="2809875"/>
              <a:ext cx="3952875" cy="9525"/>
            </a:xfrm>
            <a:custGeom>
              <a:avLst/>
              <a:gdLst/>
              <a:ahLst/>
              <a:cxnLst/>
              <a:rect l="l" t="t" r="r" b="b"/>
              <a:pathLst>
                <a:path w="3952875" h="9525">
                  <a:moveTo>
                    <a:pt x="0" y="0"/>
                  </a:moveTo>
                  <a:lnTo>
                    <a:pt x="39528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9541" y="3029902"/>
              <a:ext cx="3322415" cy="6816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基于第一性原理，贯穿物理微架构、算子极致熔炉、</a:t>
              </a:r>
              <a:br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分布式训练 3D+MoE 并行与在线推理 PD 解耦架构，</a:t>
              </a:r>
              <a:br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提供百秒级自愈与万卡 62.8% MFU 的高可用算力底座。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04875" y="4000500"/>
              <a:ext cx="3952875" cy="1952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8238" y="42367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交付规格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450556"/>
              <a:ext cx="2108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万卡超算集群 (10,000+ GPUs)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143000" y="4762500"/>
              <a:ext cx="3476625" cy="9525"/>
            </a:xfrm>
            <a:custGeom>
              <a:avLst/>
              <a:gdLst/>
              <a:ahLst/>
              <a:cxnLst/>
              <a:rect l="l" t="t" r="r" b="b"/>
              <a:pathLst>
                <a:path w="3476625" h="9525">
                  <a:moveTo>
                    <a:pt x="0" y="0"/>
                  </a:moveTo>
                  <a:lnTo>
                    <a:pt x="3476625" y="0"/>
                  </a:lnTo>
                </a:path>
              </a:pathLst>
            </a:custGeom>
            <a:noFill/>
            <a:ln w="9525">
              <a:solidFill>
                <a:srgbClr val="E9ECE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8238" y="49510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技术覆盖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7285" y="5164931"/>
              <a:ext cx="28692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 大系统分篇 · 44 篇讲义 + 5 大 Capstone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143000" y="5476875"/>
              <a:ext cx="3476625" cy="9525"/>
            </a:xfrm>
            <a:custGeom>
              <a:avLst/>
              <a:gdLst/>
              <a:ahLst/>
              <a:cxnLst/>
              <a:rect l="l" t="t" r="r" b="b"/>
              <a:pathLst>
                <a:path w="3476625" h="9525">
                  <a:moveTo>
                    <a:pt x="0" y="0"/>
                  </a:moveTo>
                  <a:lnTo>
                    <a:pt x="3476625" y="0"/>
                  </a:lnTo>
                </a:path>
              </a:pathLst>
            </a:custGeom>
            <a:noFill/>
            <a:ln w="9525">
              <a:solidFill>
                <a:srgbClr val="E9ECE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38238" y="56654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10733" y="5649278"/>
              <a:ext cx="1614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全部 KPI 100% 达标通过</a:t>
              </a:r>
            </a:p>
          </p:txBody>
        </p:sp>
      </p:grpSp>
      <p:grpSp>
        <p:nvGrpSpPr>
          <p:cNvPr id="57" name="metrics-grid"/>
          <p:cNvGrpSpPr/>
          <p:nvPr/>
        </p:nvGrpSpPr>
        <p:grpSpPr>
          <a:xfrm>
            <a:off x="5524500" y="714375"/>
            <a:ext cx="6096000" cy="5572125"/>
            <a:chOff x="5524500" y="714375"/>
            <a:chExt cx="6096000" cy="5572125"/>
          </a:xfrm>
        </p:grpSpPr>
        <p:sp>
          <p:nvSpPr>
            <p:cNvPr id="25" name="Rectangle 25"/>
            <p:cNvSpPr/>
            <p:nvPr/>
          </p:nvSpPr>
          <p:spPr>
            <a:xfrm>
              <a:off x="5524500" y="714375"/>
              <a:ext cx="2952750" cy="2667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524500" y="714375"/>
              <a:ext cx="29527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05488" y="998220"/>
              <a:ext cx="18944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CLUSTER EFFICIENCY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91200" y="1245870"/>
              <a:ext cx="152684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62.8%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04154" y="1918335"/>
              <a:ext cx="18353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万卡集群有效算力 (MFU)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810250" y="2238375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05297" y="2418874"/>
              <a:ext cx="2012293" cy="428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突破万卡规模扩展性悬崖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较业内基线 38.5% 大幅跃升 +63.1%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05488" y="2998470"/>
              <a:ext cx="17454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达到全球顶级超算利用率基线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667750" y="714375"/>
              <a:ext cx="2952750" cy="2667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667750" y="714375"/>
              <a:ext cx="29527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48738" y="998220"/>
              <a:ext cx="16775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SERVING LATENCY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34450" y="1245870"/>
              <a:ext cx="167300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280ms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47404" y="1918335"/>
              <a:ext cx="17031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在线推理 P99 尾部延迟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8953500" y="2238375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48547" y="2418874"/>
              <a:ext cx="2098395" cy="428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PagedAttention 治理显存碎片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PD 节点物理解耦，尾部延迟降 77.4%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48738" y="2998470"/>
              <a:ext cx="18369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严苛长尾业务 SLO 100% 履约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24500" y="3619500"/>
              <a:ext cx="2952750" cy="2667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524500" y="3619500"/>
              <a:ext cx="29527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05488" y="3903345"/>
              <a:ext cx="17201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HIGH AVAILABILITY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91200" y="4150995"/>
              <a:ext cx="91414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98s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804154" y="4823460"/>
              <a:ext cx="2101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节点故障全自动自愈 (MTTR)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5810250" y="51435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05297" y="5323999"/>
              <a:ext cx="1925744" cy="428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XID 异常秒级捕获 + 不良卡隔离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3FS 百 GB Checkpoint 瞬时热加载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05488" y="5903595"/>
              <a:ext cx="17994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告别 45min 传统人工停机介入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667750" y="3619500"/>
              <a:ext cx="2952750" cy="2667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667750" y="3619500"/>
              <a:ext cx="29527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948738" y="3903345"/>
              <a:ext cx="17523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ASSETS DELIVERED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934450" y="4150995"/>
              <a:ext cx="122075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44+5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47404" y="4823460"/>
              <a:ext cx="22750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万字核心讲义 + 生产 Capstone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8953500" y="51435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948547" y="5323999"/>
              <a:ext cx="1952826" cy="428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从单卡算子到调度 RFC 生产级验证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形成万卡 AI Infra 完整工业资产库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948738" y="5903595"/>
              <a:ext cx="18666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工业级全套知识与代码全部结项</a:t>
              </a:r>
            </a:p>
          </p:txBody>
        </p:sp>
      </p:grpSp>
      <p:grpSp>
        <p:nvGrpSpPr>
          <p:cNvPr id="61" name="system-footer"/>
          <p:cNvGrpSpPr/>
          <p:nvPr/>
        </p:nvGrpSpPr>
        <p:grpSpPr>
          <a:xfrm>
            <a:off x="566738" y="6524625"/>
            <a:ext cx="11058525" cy="244316"/>
            <a:chOff x="566738" y="6524625"/>
            <a:chExt cx="11058525" cy="244316"/>
          </a:xfrm>
        </p:grpSpPr>
        <p:sp>
          <p:nvSpPr>
            <p:cNvPr id="58" name="Line 58"/>
            <p:cNvSpPr/>
            <p:nvPr/>
          </p:nvSpPr>
          <p:spPr>
            <a:xfrm>
              <a:off x="571500" y="6524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66738" y="6607016"/>
              <a:ext cx="41702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ENTERPRISE LARGE MODEL COMPUTING PLATFORM DELIVERY REPORT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278148" y="6607016"/>
              <a:ext cx="3471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ystem-header"/>
          <p:cNvGrpSpPr/>
          <p:nvPr/>
        </p:nvGrpSpPr>
        <p:grpSpPr>
          <a:xfrm>
            <a:off x="566738" y="244316"/>
            <a:ext cx="11058525" cy="193834"/>
            <a:chOff x="566738" y="244316"/>
            <a:chExt cx="11058525" cy="193834"/>
          </a:xfrm>
        </p:grpSpPr>
        <p:sp>
          <p:nvSpPr>
            <p:cNvPr id="2" name="Line 2"/>
            <p:cNvSpPr/>
            <p:nvPr/>
          </p:nvSpPr>
          <p:spPr>
            <a:xfrm>
              <a:off x="571500" y="428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738" y="244316"/>
              <a:ext cx="22934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HARDWARE &amp; INTERCONNECT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662238" y="244316"/>
              <a:ext cx="38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805112" y="244316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万卡物理网络基础设施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002254" y="244316"/>
              <a:ext cx="16230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TOPOLOGY ARCHITECTURE</a:t>
              </a:r>
            </a:p>
          </p:txBody>
        </p:sp>
      </p:grpSp>
      <p:grpSp>
        <p:nvGrpSpPr>
          <p:cNvPr id="10" name="title-block"/>
          <p:cNvGrpSpPr/>
          <p:nvPr/>
        </p:nvGrpSpPr>
        <p:grpSpPr>
          <a:xfrm>
            <a:off x="560832" y="582930"/>
            <a:ext cx="5975572" cy="575881"/>
            <a:chOff x="560832" y="582930"/>
            <a:chExt cx="5975572" cy="575881"/>
          </a:xfrm>
        </p:grpSpPr>
        <p:sp>
          <p:nvSpPr>
            <p:cNvPr id="8" name="TextBox 8"/>
            <p:cNvSpPr txBox="1"/>
            <p:nvPr/>
          </p:nvSpPr>
          <p:spPr>
            <a:xfrm>
              <a:off x="560832" y="582930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物理微架构与万卡超算互联拓扑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953452"/>
              <a:ext cx="5970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以物理第一性原理消除通信悬崖，构建 8×800G OSFP 机间双轨拓扑与 900GB/s 机内对分互联</a:t>
              </a:r>
            </a:p>
          </p:txBody>
        </p:sp>
      </p:grpSp>
      <p:grpSp>
        <p:nvGrpSpPr>
          <p:cNvPr id="62" name="three-columns"/>
          <p:cNvGrpSpPr/>
          <p:nvPr/>
        </p:nvGrpSpPr>
        <p:grpSpPr>
          <a:xfrm>
            <a:off x="571500" y="1285875"/>
            <a:ext cx="11049000" cy="5000625"/>
            <a:chOff x="571500" y="1285875"/>
            <a:chExt cx="11049000" cy="5000625"/>
          </a:xfrm>
        </p:grpSpPr>
        <p:sp>
          <p:nvSpPr>
            <p:cNvPr id="11" name="Rectangle 11"/>
            <p:cNvSpPr/>
            <p:nvPr/>
          </p:nvSpPr>
          <p:spPr>
            <a:xfrm>
              <a:off x="571500" y="1285875"/>
              <a:ext cx="3476625" cy="5000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85875"/>
              <a:ext cx="3476625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862" y="1522095"/>
              <a:ext cx="19796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TIER 1 · SILICON BASELINE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2005" y="17430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单卡硬件微架构与片上机制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09625" y="2076450"/>
              <a:ext cx="3000375" cy="9525"/>
            </a:xfrm>
            <a:custGeom>
              <a:avLst/>
              <a:gdLst/>
              <a:ahLst/>
              <a:cxnLst/>
              <a:rect l="l" t="t" r="r" b="b"/>
              <a:pathLst>
                <a:path w="3000375" h="9525">
                  <a:moveTo>
                    <a:pt x="0" y="0"/>
                  </a:moveTo>
                  <a:lnTo>
                    <a:pt x="30003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09625" y="2238375"/>
              <a:ext cx="3000375" cy="714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95362" y="2435066"/>
              <a:ext cx="17089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HBM3e MEMORY BANDWIDTH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9457" y="2583180"/>
              <a:ext cx="13095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3.35 TB/s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28862" y="2712720"/>
              <a:ext cx="6915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chemeClr val="accent2"/>
                </a:buClr>
                <a:buSzTx/>
                <a:buFontTx/>
                <a:buChar char="•"/>
              </a:pPr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击破内存墙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3910" y="3117056"/>
              <a:ext cx="2208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SM 与 Tensor Core 算力调度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4672" y="3371374"/>
              <a:ext cx="2672056" cy="4097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132 个 SM 单元深度并行，Warp 级指令发射；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支持 FP8 稠密与稀疏加速，压榨每瓦最高算力。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3910" y="3974306"/>
              <a:ext cx="17840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TMA 异步多维张量搬运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4672" y="4228624"/>
              <a:ext cx="3370973" cy="4097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硬件级 Tensor Memory Accelerator，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实现 Global Memory 到 Shared Memory 零寄存器开销搬运。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3910" y="4831556"/>
              <a:ext cx="21170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 片上分布式 Shared Memory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4672" y="5085874"/>
              <a:ext cx="33307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支持跨 SM 共享内存协同，构筑高吞吐低延迟算子底座。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" y="5619750"/>
              <a:ext cx="3000375" cy="428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7738" y="5789295"/>
              <a:ext cx="22300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硬件峰值浮点算力与访存极限充分释放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333875" y="1285875"/>
              <a:ext cx="3476625" cy="5000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33875" y="1285875"/>
              <a:ext cx="3476625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67238" y="1522095"/>
              <a:ext cx="21110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TIER 2 · INTRA-NODE FABRIC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64380" y="1743075"/>
              <a:ext cx="2449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8-GPU NVLink 4.0 全互联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572000" y="2076450"/>
              <a:ext cx="3000375" cy="9525"/>
            </a:xfrm>
            <a:custGeom>
              <a:avLst/>
              <a:gdLst/>
              <a:ahLst/>
              <a:cxnLst/>
              <a:rect l="l" t="t" r="r" b="b"/>
              <a:pathLst>
                <a:path w="3000375" h="9525">
                  <a:moveTo>
                    <a:pt x="0" y="0"/>
                  </a:moveTo>
                  <a:lnTo>
                    <a:pt x="30003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572000" y="2238375"/>
              <a:ext cx="3000375" cy="714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57738" y="2435066"/>
              <a:ext cx="23421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BIDIRECTIONAL BISECTION BANDWIDTH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51832" y="2583180"/>
              <a:ext cx="12770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900 GB/s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91238" y="2712720"/>
              <a:ext cx="8126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chemeClr val="accent2"/>
                </a:buClr>
                <a:buSzTx/>
                <a:buFontTx/>
                <a:buChar char="•"/>
              </a:pPr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任意单跳直通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66285" y="3117056"/>
              <a:ext cx="1907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4× NVSwitch 物理全交换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67047" y="3371374"/>
              <a:ext cx="2658265" cy="4097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单机 8 张 GPU 任意两两无阻塞直通通信，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彻底消除传统 PCIe 桥接瓶颈与跨 NUMA 延迟。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66285" y="3974306"/>
              <a:ext cx="21391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全局统一内存编址与直接存取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67047" y="4228624"/>
              <a:ext cx="2458034" cy="4097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支持跨卡 Load/Store 原语，为张量并行 (TP)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提供媲美片内总线的极速大吞吐通信底座。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66285" y="4831556"/>
              <a:ext cx="20314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 网内聚合 SHARP 协议支持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67047" y="5085874"/>
              <a:ext cx="3331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硬件级直接承载 AllReduce 归约计算，降低跨卡通信量。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572000" y="5619750"/>
              <a:ext cx="3000375" cy="428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10112" y="5789295"/>
              <a:ext cx="23419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TP=8 张量并行通信开销衰减至忽略不计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096250" y="1285875"/>
              <a:ext cx="3524250" cy="5000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96250" y="1285875"/>
              <a:ext cx="35242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29612" y="1522095"/>
              <a:ext cx="19547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TIER 3 · INTER-NODE CLOS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26755" y="1743075"/>
              <a:ext cx="2390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万卡无阻塞 Clos 拓扑网络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334375" y="20764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334375" y="2238375"/>
              <a:ext cx="3048000" cy="714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20112" y="2435066"/>
              <a:ext cx="17202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NETWORK UPLINK PER NODE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14207" y="2583180"/>
              <a:ext cx="10926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8×800G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53612" y="2712720"/>
              <a:ext cx="8126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chemeClr val="accent2"/>
                </a:buClr>
                <a:buSzTx/>
                <a:buFontTx/>
                <a:buChar char="•"/>
              </a:pPr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轨道优化直连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28660" y="3117056"/>
              <a:ext cx="21920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Rail-Optimized 轨道优化设计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29422" y="3371374"/>
              <a:ext cx="2782676" cy="4097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单机 8 卡严格对齐 8 个独立 Leaf 交换机平面，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彻底消除跨平面冲突，实现跨机 All-to-All 无拥塞。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28660" y="3974306"/>
              <a:ext cx="2273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GPUDirect RDMA 零拷贝传输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29422" y="4228624"/>
              <a:ext cx="2962545" cy="4097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网卡直接读写远程 GPU 显存，跳过 Host CPU 内存，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端到端传输延迟控制在 1.2μs 以内。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28660" y="4831556"/>
              <a:ext cx="2032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 NCCL 拓扑自适应优化算法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29422" y="5085874"/>
              <a:ext cx="187680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自动识别机内环与机间树形网络，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通信与计算实现完美隐藏重叠。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334375" y="5619750"/>
              <a:ext cx="3048000" cy="428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472488" y="5789295"/>
              <a:ext cx="21833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支撑 16,384 卡超大规模线性集群扩展</a:t>
              </a:r>
            </a:p>
          </p:txBody>
        </p:sp>
      </p:grpSp>
      <p:grpSp>
        <p:nvGrpSpPr>
          <p:cNvPr id="66" name="system-footer"/>
          <p:cNvGrpSpPr/>
          <p:nvPr/>
        </p:nvGrpSpPr>
        <p:grpSpPr>
          <a:xfrm>
            <a:off x="566738" y="6524625"/>
            <a:ext cx="11058525" cy="244316"/>
            <a:chOff x="566738" y="6524625"/>
            <a:chExt cx="11058525" cy="244316"/>
          </a:xfrm>
        </p:grpSpPr>
        <p:sp>
          <p:nvSpPr>
            <p:cNvPr id="63" name="Line 63"/>
            <p:cNvSpPr/>
            <p:nvPr/>
          </p:nvSpPr>
          <p:spPr>
            <a:xfrm>
              <a:off x="571500" y="6524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66738" y="6607016"/>
              <a:ext cx="41702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ENTERPRISE LARGE MODEL COMPUTING PLATFORM DELIVERY REPORT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78148" y="6607016"/>
              <a:ext cx="3471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ystem-header"/>
          <p:cNvGrpSpPr/>
          <p:nvPr/>
        </p:nvGrpSpPr>
        <p:grpSpPr>
          <a:xfrm>
            <a:off x="566738" y="244316"/>
            <a:ext cx="11058524" cy="193834"/>
            <a:chOff x="566738" y="244316"/>
            <a:chExt cx="11058524" cy="193834"/>
          </a:xfrm>
        </p:grpSpPr>
        <p:sp>
          <p:nvSpPr>
            <p:cNvPr id="2" name="Line 2"/>
            <p:cNvSpPr/>
            <p:nvPr/>
          </p:nvSpPr>
          <p:spPr>
            <a:xfrm>
              <a:off x="571500" y="428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738" y="244316"/>
              <a:ext cx="21035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MATHEMATICAL MODELING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66988" y="244316"/>
              <a:ext cx="38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709862" y="244316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第一性原理物理建模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218198" y="244316"/>
              <a:ext cx="24070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FIRST-PRINCIPLES CAPACITY FORMULAS</a:t>
              </a:r>
            </a:p>
          </p:txBody>
        </p:sp>
      </p:grpSp>
      <p:grpSp>
        <p:nvGrpSpPr>
          <p:cNvPr id="10" name="title-block"/>
          <p:cNvGrpSpPr/>
          <p:nvPr/>
        </p:nvGrpSpPr>
        <p:grpSpPr>
          <a:xfrm>
            <a:off x="560832" y="582930"/>
            <a:ext cx="6668063" cy="575881"/>
            <a:chOff x="560832" y="582930"/>
            <a:chExt cx="6668063" cy="575881"/>
          </a:xfrm>
        </p:grpSpPr>
        <p:sp>
          <p:nvSpPr>
            <p:cNvPr id="8" name="TextBox 8"/>
            <p:cNvSpPr txBox="1"/>
            <p:nvPr/>
          </p:nvSpPr>
          <p:spPr>
            <a:xfrm>
              <a:off x="560832" y="582930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算力、显存与通信三账本物理基线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953452"/>
              <a:ext cx="6662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摒弃盲目试错，通过精准数学推导建立 6Φ 训练算力、16Φ 静态显存与 2×(N-1)/N 通信量的三账本定量准则</a:t>
              </a:r>
            </a:p>
          </p:txBody>
        </p:sp>
      </p:grpSp>
      <p:grpSp>
        <p:nvGrpSpPr>
          <p:cNvPr id="67" name="three-ledgers"/>
          <p:cNvGrpSpPr/>
          <p:nvPr/>
        </p:nvGrpSpPr>
        <p:grpSpPr>
          <a:xfrm>
            <a:off x="571500" y="1285875"/>
            <a:ext cx="11049000" cy="5000625"/>
            <a:chOff x="571500" y="1285875"/>
            <a:chExt cx="11049000" cy="5000625"/>
          </a:xfrm>
        </p:grpSpPr>
        <p:sp>
          <p:nvSpPr>
            <p:cNvPr id="11" name="Rectangle 11"/>
            <p:cNvSpPr/>
            <p:nvPr/>
          </p:nvSpPr>
          <p:spPr>
            <a:xfrm>
              <a:off x="571500" y="1285875"/>
              <a:ext cx="3476625" cy="5000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85875"/>
              <a:ext cx="3476625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862" y="1522095"/>
              <a:ext cx="2317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LEDGER 01 · COMPUTE BUDGET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2005" y="1743075"/>
              <a:ext cx="24673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算力账本：6Φ FLOPs 定律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09625" y="2076450"/>
              <a:ext cx="3000375" cy="9525"/>
            </a:xfrm>
            <a:custGeom>
              <a:avLst/>
              <a:gdLst/>
              <a:ahLst/>
              <a:cxnLst/>
              <a:rect l="l" t="t" r="r" b="b"/>
              <a:pathLst>
                <a:path w="3000375" h="9525">
                  <a:moveTo>
                    <a:pt x="0" y="0"/>
                  </a:moveTo>
                  <a:lnTo>
                    <a:pt x="30003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09625" y="2238375"/>
              <a:ext cx="3000375" cy="809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95362" y="2387441"/>
              <a:ext cx="21283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TOTAL TRAINING FLOPS PER TOKEN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9457" y="2583180"/>
              <a:ext cx="21174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 ≈ 6Φ · FLOPs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5362" y="2882741"/>
              <a:ext cx="14631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其中 Φ 为模型非嵌入参数总量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4291" y="3201352"/>
              <a:ext cx="2474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正向计算 (Forward Pass)：2Φ FLOPs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4672" y="3418999"/>
              <a:ext cx="2215785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 Token 经过线性层矩阵乘 GEMM，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乘加操作（MAC）对应 2 次浮点运算。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4291" y="3934778"/>
              <a:ext cx="2585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反向传播 (Backward Pass)：4Φ FLOPs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4672" y="4152424"/>
              <a:ext cx="2898921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包含激活值梯度计算（2Φ）与权重梯度计算（2Φ），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算力消耗恰好是正向过程的 2 倍。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4291" y="46682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训练总耗时定量推导公式：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9625" y="4905375"/>
              <a:ext cx="3000375" cy="5238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7547" y="5114449"/>
              <a:ext cx="24969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 = (6 × Φ × Tokens) / (N × Peak × MFU)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09625" y="5619750"/>
              <a:ext cx="3000375" cy="428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7738" y="5789295"/>
              <a:ext cx="23512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实现万卡训练周期天级精确推演与保交付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333875" y="1285875"/>
              <a:ext cx="3476625" cy="5000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33875" y="1285875"/>
              <a:ext cx="3476625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567238" y="1522095"/>
              <a:ext cx="22428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LEDGER 02 · MEMORY BUDGET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64380" y="1743075"/>
              <a:ext cx="22524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显存账本：16Φ 静态底座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572000" y="2076450"/>
              <a:ext cx="3000375" cy="9525"/>
            </a:xfrm>
            <a:custGeom>
              <a:avLst/>
              <a:gdLst/>
              <a:ahLst/>
              <a:cxnLst/>
              <a:rect l="l" t="t" r="r" b="b"/>
              <a:pathLst>
                <a:path w="3000375" h="9525">
                  <a:moveTo>
                    <a:pt x="0" y="0"/>
                  </a:moveTo>
                  <a:lnTo>
                    <a:pt x="30003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72000" y="2238375"/>
              <a:ext cx="3000375" cy="809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57738" y="2387441"/>
              <a:ext cx="23940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STATIC MEMORY CONSUMPTION (BYTES)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51832" y="2583180"/>
              <a:ext cx="19798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M_static = 16Φ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57738" y="2882741"/>
              <a:ext cx="19565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70B 模型裸显存静态需求即达 1120 GB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66666" y="32013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四账本静态切分拆解：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67047" y="3418999"/>
              <a:ext cx="25068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模型权重 (FP16/BF16)：2 字节 × Φ = 2Φ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67047" y="3609499"/>
              <a:ext cx="25068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梯度状态 (FP16/BF16)：2 字节 × Φ = 2Φ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67047" y="3799999"/>
              <a:ext cx="35043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AdamW 优化器：Master(4Φ) + 一阶(4Φ) + 二阶(4Φ) = 12Φ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66666" y="41252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动态激活值显存优化：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67047" y="4342924"/>
              <a:ext cx="3101791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采用 Selective Activation Checkpointing 选择性重计算，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仅增加 30% 正向计算量，换取显存占用骤降 75%。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572000" y="4905375"/>
              <a:ext cx="3000375" cy="5238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710112" y="5046345"/>
              <a:ext cx="17482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 KV Cache 防爆保护机制：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10112" y="5225891"/>
              <a:ext cx="24462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M_kv = 2 × b × s × l × h × bytes，毫秒级配额限制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72000" y="5619750"/>
              <a:ext cx="3000375" cy="428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10112" y="5789295"/>
              <a:ext cx="27699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支撑 70B/405B 超大模型显存零 OOM 稳定运行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096250" y="1285875"/>
              <a:ext cx="3524250" cy="5000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96250" y="1285875"/>
              <a:ext cx="35242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29612" y="1522095"/>
              <a:ext cx="20969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LEDGER 03 · COMM SCALING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26755" y="1743075"/>
              <a:ext cx="2546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通信账本：Ring 拓扑无衰减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8334375" y="20764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334375" y="2238375"/>
              <a:ext cx="3048000" cy="809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520112" y="2387441"/>
              <a:ext cx="2510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RING ALLREDUCE TRANSMISSION VOLUME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14207" y="2583180"/>
              <a:ext cx="268470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 = 2 · [(N-1)/N] · M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20112" y="2882741"/>
              <a:ext cx="23399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单卡总传输量恒定趋近于 2M，与节点数 N 无关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29041" y="32013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环形集合通信核心特性：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29422" y="3418999"/>
              <a:ext cx="2796391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由 (N-1) 步 Scatter-Reduce 与 Allgather 组成，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每卡数据传输量仅与模型量 M 相关，具高扩展性。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29041" y="3934778"/>
              <a:ext cx="2230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计算通信隐藏黄金定理 (Overlap)：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29422" y="4152424"/>
              <a:ext cx="3035628" cy="571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当 T_comm ≤ T_comp 时，通信时间被完全掩盖；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通过梯度分桶 (Bucket Size=25MB) 与 CUDA Stream，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前向计算与后向通信无缝重叠。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334375" y="4905375"/>
              <a:ext cx="3048000" cy="5238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72488" y="504634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网络拥塞阈值警戒线：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72488" y="5225891"/>
              <a:ext cx="2609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有效带宽饱和率维持在 92% 以上，零微秒微突发丢包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334375" y="5619750"/>
              <a:ext cx="3048000" cy="428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72488" y="5789295"/>
              <a:ext cx="24724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确立万卡集群线性扩展性能上界的理论极值</a:t>
              </a:r>
            </a:p>
          </p:txBody>
        </p:sp>
      </p:grpSp>
      <p:grpSp>
        <p:nvGrpSpPr>
          <p:cNvPr id="71" name="system-footer"/>
          <p:cNvGrpSpPr/>
          <p:nvPr/>
        </p:nvGrpSpPr>
        <p:grpSpPr>
          <a:xfrm>
            <a:off x="566738" y="6524625"/>
            <a:ext cx="11058525" cy="244316"/>
            <a:chOff x="566738" y="6524625"/>
            <a:chExt cx="11058525" cy="244316"/>
          </a:xfrm>
        </p:grpSpPr>
        <p:sp>
          <p:nvSpPr>
            <p:cNvPr id="68" name="Line 68"/>
            <p:cNvSpPr/>
            <p:nvPr/>
          </p:nvSpPr>
          <p:spPr>
            <a:xfrm>
              <a:off x="571500" y="6524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66738" y="6607016"/>
              <a:ext cx="41702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ENTERPRISE LARGE MODEL COMPUTING PLATFORM DELIVERY REPORT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78148" y="6607016"/>
              <a:ext cx="3471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ystem-header"/>
          <p:cNvGrpSpPr/>
          <p:nvPr/>
        </p:nvGrpSpPr>
        <p:grpSpPr>
          <a:xfrm>
            <a:off x="566738" y="244316"/>
            <a:ext cx="11058525" cy="193834"/>
            <a:chOff x="566738" y="244316"/>
            <a:chExt cx="11058525" cy="193834"/>
          </a:xfrm>
        </p:grpSpPr>
        <p:sp>
          <p:nvSpPr>
            <p:cNvPr id="2" name="Line 2"/>
            <p:cNvSpPr/>
            <p:nvPr/>
          </p:nvSpPr>
          <p:spPr>
            <a:xfrm>
              <a:off x="571500" y="428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738" y="244316"/>
              <a:ext cx="17996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KERNEL ENGINEERING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376488" y="244316"/>
              <a:ext cx="38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519362" y="244316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算子极致熔炉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41460" y="244316"/>
              <a:ext cx="22838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SRAM TILING &amp; WARP-SPECIALIZATION</a:t>
              </a:r>
            </a:p>
          </p:txBody>
        </p:sp>
      </p:grpSp>
      <p:grpSp>
        <p:nvGrpSpPr>
          <p:cNvPr id="10" name="title-block"/>
          <p:cNvGrpSpPr/>
          <p:nvPr/>
        </p:nvGrpSpPr>
        <p:grpSpPr>
          <a:xfrm>
            <a:off x="560832" y="582930"/>
            <a:ext cx="6808237" cy="575881"/>
            <a:chOff x="560832" y="582930"/>
            <a:chExt cx="6808237" cy="575881"/>
          </a:xfrm>
        </p:grpSpPr>
        <p:sp>
          <p:nvSpPr>
            <p:cNvPr id="8" name="TextBox 8"/>
            <p:cNvSpPr txBox="1"/>
            <p:nvPr/>
          </p:nvSpPr>
          <p:spPr>
            <a:xfrm>
              <a:off x="560832" y="582930"/>
              <a:ext cx="66403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算子熔炉调优：FlashAttention-2/3 与 SRAM Tiling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953452"/>
              <a:ext cx="6802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突破 HBM 访存墙瓶颈，利用片上 SRAM Tiling 与 Warp-Specialization 实现 72%+ 的 Tensor Core 极限吞吐</a:t>
              </a:r>
            </a:p>
          </p:txBody>
        </p:sp>
      </p:grpSp>
      <p:grpSp>
        <p:nvGrpSpPr>
          <p:cNvPr id="28" name="left-memory-wall"/>
          <p:cNvGrpSpPr/>
          <p:nvPr/>
        </p:nvGrpSpPr>
        <p:grpSpPr>
          <a:xfrm>
            <a:off x="571500" y="1285875"/>
            <a:ext cx="4953000" cy="5000625"/>
            <a:chOff x="571500" y="1285875"/>
            <a:chExt cx="4953000" cy="5000625"/>
          </a:xfrm>
        </p:grpSpPr>
        <p:sp>
          <p:nvSpPr>
            <p:cNvPr id="11" name="Rectangle 11"/>
            <p:cNvSpPr/>
            <p:nvPr/>
          </p:nvSpPr>
          <p:spPr>
            <a:xfrm>
              <a:off x="571500" y="1285875"/>
              <a:ext cx="4953000" cy="5000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85875"/>
              <a:ext cx="4953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2488" y="1522095"/>
              <a:ext cx="19689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IO COMPLEXITY PARADIGM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1743075"/>
              <a:ext cx="39206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 Attention 访存墙 vs 片上 SRAM 融合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57250" y="20764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57250" y="2238375"/>
              <a:ext cx="4381500" cy="14287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2416" y="2410778"/>
              <a:ext cx="3026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53935"/>
                  </a:solidFill>
                  <a:latin typeface="+mn-lt"/>
                  <a:ea typeface="+mn-ea"/>
                  <a:cs typeface="+mn-cs"/>
                </a:rPr>
                <a:t>传统标准 Attention 访存瓶颈 (Memory-Bound)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797" y="2656999"/>
              <a:ext cx="29880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计算流：S = Q·K^T → P = softmax(S) → O = P·V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797" y="2895124"/>
              <a:ext cx="3265419" cy="4097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lnSpc>
                  <a:spcPts val="172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中间矩阵 S, P 尺寸为 N×N，必须频繁往返读写 HBM 显存</a:t>
              </a:r>
            </a:p>
            <a:p>
              <a:pPr algn="l" marL="78148" indent="-78148">
                <a:lnSpc>
                  <a:spcPts val="172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显存读写复杂度为 O(N^2)，导致长序列下显存迅速爆仓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2988" y="3379470"/>
              <a:ext cx="32620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53935"/>
                  </a:solidFill>
                  <a:latin typeface="+mn-lt"/>
                  <a:ea typeface="+mn-ea"/>
                  <a:cs typeface="+mn-cs"/>
                </a:rPr>
                <a:t>❌ 算力空转：Tensor Core 计算利用率不足理论峰值的 20%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57250" y="3857625"/>
              <a:ext cx="4381500" cy="15240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2416" y="4030028"/>
              <a:ext cx="33247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FlashAttention 片上 Tiling 破局 (Compute-Bound)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2797" y="4276249"/>
              <a:ext cx="36042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核心机制：基于 SRAM 块大小 (B_c, B_r) 对 Q/K/V 严格分块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2797" y="4514374"/>
              <a:ext cx="3182279" cy="4097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lnSpc>
                  <a:spcPts val="172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Online Softmax：动态局部更新最大值 m 与归一化和 l</a:t>
              </a:r>
            </a:p>
            <a:p>
              <a:pPr algn="l" marL="78148" indent="-78148">
                <a:lnSpc>
                  <a:spcPts val="172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N×N 分数矩阵永不落盘 HBM，全局显存 IO 直降至 O(N)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2988" y="5046345"/>
              <a:ext cx="30904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硬件利用率跃迁：Tensor Core 实际效能飙升至 72%+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57250" y="5572125"/>
              <a:ext cx="4381500" cy="476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42988" y="5760720"/>
              <a:ext cx="33582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首创手撕 CUDA 原生算子，全面适配各种异构硬件与超长序列</a:t>
              </a:r>
            </a:p>
          </p:txBody>
        </p:sp>
      </p:grpSp>
      <p:grpSp>
        <p:nvGrpSpPr>
          <p:cNvPr id="47" name="right-evolution-steps"/>
          <p:cNvGrpSpPr/>
          <p:nvPr/>
        </p:nvGrpSpPr>
        <p:grpSpPr>
          <a:xfrm>
            <a:off x="5715000" y="1285875"/>
            <a:ext cx="5905500" cy="5000625"/>
            <a:chOff x="5715000" y="1285875"/>
            <a:chExt cx="5905500" cy="5000625"/>
          </a:xfrm>
        </p:grpSpPr>
        <p:sp>
          <p:nvSpPr>
            <p:cNvPr id="29" name="Rectangle 29"/>
            <p:cNvSpPr/>
            <p:nvPr/>
          </p:nvSpPr>
          <p:spPr>
            <a:xfrm>
              <a:off x="5715000" y="1285875"/>
              <a:ext cx="5905500" cy="5000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0" y="1285875"/>
              <a:ext cx="5905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95988" y="1522095"/>
              <a:ext cx="21217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ARCHITECTURAL EVOLUTION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93130" y="1743075"/>
              <a:ext cx="3939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FlashAttention 1 → 2 → 3 演进与硬件特化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000750" y="20764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00750" y="2238375"/>
              <a:ext cx="5334000" cy="8572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00750" y="2238375"/>
              <a:ext cx="38100" cy="857250"/>
            </a:xfrm>
            <a:prstGeom prst="rect">
              <a:avLst/>
            </a:prstGeom>
            <a:solidFill>
              <a:srgbClr val="6C757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85535" y="2374106"/>
              <a:ext cx="33592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FlashAttention-1：分块 Tiling 与重计算范式创立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86297" y="2628424"/>
              <a:ext cx="4169434" cy="390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引入片上 SRAM 分块加载与 Online Softmax 动态累积算法；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反向传播舍弃保存 N×N 矩阵，通过重计算以 30% 算力换取显存降低 80%。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00750" y="3286125"/>
              <a:ext cx="5334000" cy="10477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00750" y="3286125"/>
              <a:ext cx="38100" cy="1047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85535" y="3421856"/>
              <a:ext cx="3321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FlashAttention-2：循环逆序优化与并行度最大化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86297" y="3676174"/>
              <a:ext cx="3895921" cy="590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外层遍历 Q 矩阵、内层遍历 KV 矩阵，避免频繁中间缩放与原子写回；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在 Sequence 维度与 Batch 维度跨 ThreadBlock 全并行切分；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消除非必要同步指令，硬件 MFU 提升至 55%~65%。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00750" y="4524375"/>
              <a:ext cx="5334000" cy="15240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00750" y="4524375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85535" y="4660106"/>
              <a:ext cx="40323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FlashAttention-3：Warp-Specialization 与 TMA 硬件流水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86297" y="4914424"/>
              <a:ext cx="3867457" cy="838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深度融合 Hopper 微架构新特性：</a:t>
              </a:r>
            </a:p>
            <a:p>
              <a:pPr algn="l" marL="78148" indent="-78148">
                <a:lnSpc>
                  <a:spcPts val="1650"/>
                </a:lnSpc>
                <a:spcBef>
                  <a:spcPts val="75"/>
                </a:spcBef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生产者 Warp 专注 TMA 异步多维张量搬运，消费者 Warp 持续计算</a:t>
              </a:r>
            </a:p>
            <a:p>
              <a:pPr algn="l" marL="78148" indent="-78148">
                <a:lnSpc>
                  <a:spcPts val="1650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Ping-Pong 双缓冲异步流水线，消除指令等待与访存气泡</a:t>
              </a:r>
            </a:p>
            <a:p>
              <a:pPr algn="l" marL="78148" indent="-78148">
                <a:lnSpc>
                  <a:spcPts val="1650"/>
                </a:lnSpc>
                <a:spcBef>
                  <a:spcPts val="75"/>
                </a:spcBef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FP8 低精度 Tensor Core 原生支持，吞吐达到恐怖的 72%+ 极限效能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86488" y="5808345"/>
              <a:ext cx="32256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算子层面完全榨干片上 SRAM 与 Tensor Core 极限潜能</a:t>
              </a:r>
            </a:p>
          </p:txBody>
        </p:sp>
      </p:grpSp>
      <p:grpSp>
        <p:nvGrpSpPr>
          <p:cNvPr id="51" name="system-footer"/>
          <p:cNvGrpSpPr/>
          <p:nvPr/>
        </p:nvGrpSpPr>
        <p:grpSpPr>
          <a:xfrm>
            <a:off x="566738" y="6524625"/>
            <a:ext cx="11058525" cy="244316"/>
            <a:chOff x="566738" y="6524625"/>
            <a:chExt cx="11058525" cy="244316"/>
          </a:xfrm>
        </p:grpSpPr>
        <p:sp>
          <p:nvSpPr>
            <p:cNvPr id="48" name="Line 48"/>
            <p:cNvSpPr/>
            <p:nvPr/>
          </p:nvSpPr>
          <p:spPr>
            <a:xfrm>
              <a:off x="571500" y="6524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6738" y="6607016"/>
              <a:ext cx="41702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ENTERPRISE LARGE MODEL COMPUTING PLATFORM DELIVERY REPORT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78148" y="6607016"/>
              <a:ext cx="3471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ystem-header"/>
          <p:cNvGrpSpPr/>
          <p:nvPr/>
        </p:nvGrpSpPr>
        <p:grpSpPr>
          <a:xfrm>
            <a:off x="566738" y="244316"/>
            <a:ext cx="11058524" cy="193834"/>
            <a:chOff x="566738" y="244316"/>
            <a:chExt cx="11058524" cy="193834"/>
          </a:xfrm>
        </p:grpSpPr>
        <p:sp>
          <p:nvSpPr>
            <p:cNvPr id="2" name="Line 2"/>
            <p:cNvSpPr/>
            <p:nvPr/>
          </p:nvSpPr>
          <p:spPr>
            <a:xfrm>
              <a:off x="571500" y="428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738" y="244316"/>
              <a:ext cx="29638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DISTRIBUTED TRAINING ARCHITECTURE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90862" y="244316"/>
              <a:ext cx="38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233738" y="244316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万卡分布式并行拓扑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140401" y="244316"/>
              <a:ext cx="24848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3D PARALLELISM &amp; MOE ORCHESTRATION</a:t>
              </a:r>
            </a:p>
          </p:txBody>
        </p:sp>
      </p:grpSp>
      <p:grpSp>
        <p:nvGrpSpPr>
          <p:cNvPr id="10" name="title-block"/>
          <p:cNvGrpSpPr/>
          <p:nvPr/>
        </p:nvGrpSpPr>
        <p:grpSpPr>
          <a:xfrm>
            <a:off x="560832" y="582930"/>
            <a:ext cx="6582514" cy="575881"/>
            <a:chOff x="560832" y="582930"/>
            <a:chExt cx="6582514" cy="575881"/>
          </a:xfrm>
        </p:grpSpPr>
        <p:sp>
          <p:nvSpPr>
            <p:cNvPr id="8" name="TextBox 8"/>
            <p:cNvSpPr txBox="1"/>
            <p:nvPr/>
          </p:nvSpPr>
          <p:spPr>
            <a:xfrm>
              <a:off x="560832" y="582930"/>
              <a:ext cx="52262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大规模分布式训练：3D 并行与 MoE 编排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953452"/>
              <a:ext cx="65771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融合 FSDP-2 通信重叠与 TP/PP/SP 混合切分，结合 MoE 拓扑感知 All-to-All，彻底击破万卡扩展性悬崖</a:t>
              </a:r>
            </a:p>
          </p:txBody>
        </p:sp>
      </p:grpSp>
      <p:grpSp>
        <p:nvGrpSpPr>
          <p:cNvPr id="27" name="top-sharding-ribbon"/>
          <p:cNvGrpSpPr/>
          <p:nvPr/>
        </p:nvGrpSpPr>
        <p:grpSpPr>
          <a:xfrm>
            <a:off x="571500" y="1285875"/>
            <a:ext cx="11049000" cy="1285875"/>
            <a:chOff x="571500" y="1285875"/>
            <a:chExt cx="11049000" cy="1285875"/>
          </a:xfrm>
        </p:grpSpPr>
        <p:sp>
          <p:nvSpPr>
            <p:cNvPr id="11" name="Rectangle 11"/>
            <p:cNvSpPr/>
            <p:nvPr/>
          </p:nvSpPr>
          <p:spPr>
            <a:xfrm>
              <a:off x="571500" y="1285875"/>
              <a:ext cx="11049000" cy="12858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85875"/>
              <a:ext cx="11049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862" y="1474470"/>
              <a:ext cx="31958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MEMORY SCALING ENGINE · ZERO &amp; FSDP-2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2767" y="1711642"/>
              <a:ext cx="4339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显存打散与参数按需预取：从 16Φ 到 16Φ/N 极致收敛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2000250"/>
              <a:ext cx="2476500" cy="428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0112" y="2093595"/>
              <a:ext cx="14279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ZeRO-1：优化器状态切分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0112" y="2254091"/>
              <a:ext cx="16687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显存占用：4Φ + 12Φ / N (降 75%)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76625" y="2000250"/>
              <a:ext cx="2476500" cy="428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67112" y="2093595"/>
              <a:ext cx="156601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ZeRO-2：梯度 + 优化器切分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67112" y="2254091"/>
              <a:ext cx="16687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显存占用：2Φ + 14Φ / N (降 87%)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43625" y="2000250"/>
              <a:ext cx="2476500" cy="428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34112" y="2093595"/>
              <a:ext cx="14279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ZeRO-3：模型参数全切分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34112" y="2254091"/>
              <a:ext cx="18175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显存占用：16Φ / N (按节点线性递减)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10625" y="2000250"/>
              <a:ext cx="2619375" cy="428625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1112" y="2093595"/>
              <a:ext cx="19573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PyTorch FSDP-2：零气泡异步预取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01112" y="2254091"/>
              <a:ext cx="1720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AllGather 与计算重叠，无显存冗余</a:t>
              </a:r>
            </a:p>
          </p:txBody>
        </p:sp>
      </p:grpSp>
      <p:grpSp>
        <p:nvGrpSpPr>
          <p:cNvPr id="67" name="bottom-3-columns"/>
          <p:cNvGrpSpPr/>
          <p:nvPr/>
        </p:nvGrpSpPr>
        <p:grpSpPr>
          <a:xfrm>
            <a:off x="571500" y="2714625"/>
            <a:ext cx="11049000" cy="3571875"/>
            <a:chOff x="571500" y="2714625"/>
            <a:chExt cx="11049000" cy="3571875"/>
          </a:xfrm>
        </p:grpSpPr>
        <p:sp>
          <p:nvSpPr>
            <p:cNvPr id="28" name="Rectangle 28"/>
            <p:cNvSpPr/>
            <p:nvPr/>
          </p:nvSpPr>
          <p:spPr>
            <a:xfrm>
              <a:off x="571500" y="2714625"/>
              <a:ext cx="3476625" cy="35718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71500" y="2714625"/>
              <a:ext cx="3476625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4862" y="2950845"/>
              <a:ext cx="19620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DIMENSION 01 · 3D HYBRID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2767" y="3168968"/>
              <a:ext cx="2363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TP + PP + DP 硬件协同拓扑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09625" y="3476625"/>
              <a:ext cx="3000375" cy="9525"/>
            </a:xfrm>
            <a:custGeom>
              <a:avLst/>
              <a:gdLst/>
              <a:ahLst/>
              <a:cxnLst/>
              <a:rect l="l" t="t" r="r" b="b"/>
              <a:pathLst>
                <a:path w="3000375" h="9525">
                  <a:moveTo>
                    <a:pt x="0" y="0"/>
                  </a:moveTo>
                  <a:lnTo>
                    <a:pt x="30003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4291" y="3649028"/>
              <a:ext cx="15909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TP 张量并行 (机内闭环)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4672" y="3876199"/>
              <a:ext cx="237464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限定在单机 8 卡 NVLink 域 (TP=8)，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列切分与行切分互锁，严禁跨物理机通信。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4291" y="4411028"/>
              <a:ext cx="1869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PP 流水线并行 (1F1B 调度)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4672" y="4638199"/>
              <a:ext cx="2755518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跨机组网 (PP=8~16)，引入 1F1B 双向交错调度，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将流水线等待气泡降至 10% 以下。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4291" y="5173028"/>
              <a:ext cx="20384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DP 数据并行 / FSDP 跨机扩展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4672" y="54001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在万卡集群外层扩展，通信与反向计算完全隐藏。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09625" y="5810250"/>
              <a:ext cx="3000375" cy="333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7738" y="5930741"/>
              <a:ext cx="22534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软硬件拓扑完全对齐，避免跨交换平面拥塞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333875" y="2714625"/>
              <a:ext cx="3476625" cy="35718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333875" y="2714625"/>
              <a:ext cx="3476625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567238" y="2950845"/>
              <a:ext cx="23210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DIMENSION 02 · LONG CONTEXT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65142" y="3168968"/>
              <a:ext cx="2203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 / CP 序列并行超长文本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4572000" y="3476625"/>
              <a:ext cx="3000375" cy="9525"/>
            </a:xfrm>
            <a:custGeom>
              <a:avLst/>
              <a:gdLst/>
              <a:ahLst/>
              <a:cxnLst/>
              <a:rect l="l" t="t" r="r" b="b"/>
              <a:pathLst>
                <a:path w="3000375" h="9525">
                  <a:moveTo>
                    <a:pt x="0" y="0"/>
                  </a:moveTo>
                  <a:lnTo>
                    <a:pt x="30003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66666" y="3649028"/>
              <a:ext cx="1889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Sequence Parallelism (SP)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67047" y="3876199"/>
              <a:ext cx="2326729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将 LayerNorm 和 Dropout 沿序列维切分，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消除 TP 过程中的激活值冗余复制。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66666" y="4411028"/>
              <a:ext cx="2112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Context Parallelism (Ring CP)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67047" y="4638199"/>
              <a:ext cx="2478819" cy="571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针对 128k~1M 极致长序列训练，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在 GPU 间环形异步轮转 Key/Value 缓存块，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突破单卡显存承载长文本的物理上限。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66666" y="5363528"/>
              <a:ext cx="19368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计算与环形通信无缝 Overlap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67047" y="5562124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算力效率随上下文长度扩展维持近线性。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572000" y="5810250"/>
              <a:ext cx="3000375" cy="333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710112" y="5930741"/>
              <a:ext cx="20084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支撑 128k 全参数长文本模型稳定训完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096250" y="2714625"/>
              <a:ext cx="3524250" cy="35718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096250" y="2714625"/>
              <a:ext cx="35242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29612" y="2950845"/>
              <a:ext cx="21363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DIMENSION 03 · SPARSE MOE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27517" y="3168968"/>
              <a:ext cx="2606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MoE 专家混合与 All-to-All 优化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8334375" y="34766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329041" y="3649028"/>
              <a:ext cx="17985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Top-2 动态门控与负载均衡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29422" y="3876199"/>
              <a:ext cx="3087155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门控网络精准路由，动态分发至 2 个最佳专家；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加入 Auxiliary Loss 严格约束，彻底根绝专家负载倾斜。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29041" y="4411028"/>
              <a:ext cx="1579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拓扑感知分块 All-to-All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29422" y="4638199"/>
              <a:ext cx="2949303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Dispatch/Combine 过程将跨机通信切细粒度 Chunk，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结合 Rail-Optimized 网络做到通信完全隐藏。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29041" y="5173028"/>
              <a:ext cx="1881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EP 专家并行与 TP 混合编排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29422" y="5400199"/>
              <a:ext cx="29489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支撑百亿激活/千亿参数稀疏大模型万卡极速收敛。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334375" y="5810250"/>
              <a:ext cx="3048000" cy="333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72488" y="5930741"/>
              <a:ext cx="23578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稀疏大模型训练吞吐较未调优版本提升 2.4 倍</a:t>
              </a:r>
            </a:p>
          </p:txBody>
        </p:sp>
      </p:grpSp>
      <p:grpSp>
        <p:nvGrpSpPr>
          <p:cNvPr id="71" name="system-footer"/>
          <p:cNvGrpSpPr/>
          <p:nvPr/>
        </p:nvGrpSpPr>
        <p:grpSpPr>
          <a:xfrm>
            <a:off x="566738" y="6524625"/>
            <a:ext cx="11058525" cy="244316"/>
            <a:chOff x="566738" y="6524625"/>
            <a:chExt cx="11058525" cy="244316"/>
          </a:xfrm>
        </p:grpSpPr>
        <p:sp>
          <p:nvSpPr>
            <p:cNvPr id="68" name="Line 68"/>
            <p:cNvSpPr/>
            <p:nvPr/>
          </p:nvSpPr>
          <p:spPr>
            <a:xfrm>
              <a:off x="571500" y="6524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66738" y="6607016"/>
              <a:ext cx="41702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ENTERPRISE LARGE MODEL COMPUTING PLATFORM DELIVERY REPORT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78148" y="6607016"/>
              <a:ext cx="3471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ystem-header"/>
          <p:cNvGrpSpPr/>
          <p:nvPr/>
        </p:nvGrpSpPr>
        <p:grpSpPr>
          <a:xfrm>
            <a:off x="566738" y="244316"/>
            <a:ext cx="11058525" cy="193834"/>
            <a:chOff x="566738" y="244316"/>
            <a:chExt cx="11058525" cy="193834"/>
          </a:xfrm>
        </p:grpSpPr>
        <p:sp>
          <p:nvSpPr>
            <p:cNvPr id="2" name="Line 2"/>
            <p:cNvSpPr/>
            <p:nvPr/>
          </p:nvSpPr>
          <p:spPr>
            <a:xfrm>
              <a:off x="571500" y="428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738" y="244316"/>
              <a:ext cx="23775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/ ONLINE SERVING &amp; INFERENCE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757488" y="244316"/>
              <a:ext cx="38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900362" y="244316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在线推理引擎架构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114438" y="244316"/>
              <a:ext cx="2510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PAGEDATTENTION &amp; PD DISAGGREGATION</a:t>
              </a:r>
            </a:p>
          </p:txBody>
        </p:sp>
      </p:grpSp>
      <p:grpSp>
        <p:nvGrpSpPr>
          <p:cNvPr id="10" name="title-block"/>
          <p:cNvGrpSpPr/>
          <p:nvPr/>
        </p:nvGrpSpPr>
        <p:grpSpPr>
          <a:xfrm>
            <a:off x="560832" y="582930"/>
            <a:ext cx="6746018" cy="575881"/>
            <a:chOff x="560832" y="582930"/>
            <a:chExt cx="6746018" cy="575881"/>
          </a:xfrm>
        </p:grpSpPr>
        <p:sp>
          <p:nvSpPr>
            <p:cNvPr id="8" name="TextBox 8"/>
            <p:cNvSpPr txBox="1"/>
            <p:nvPr/>
          </p:nvSpPr>
          <p:spPr>
            <a:xfrm>
              <a:off x="560832" y="582930"/>
              <a:ext cx="61795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在线推理系统：PagedAttention 与 PD 分离架构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953452"/>
              <a:ext cx="6740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引入类操作系统虚拟分页机制根除 60% 显存碎片，通过 PD 节点物理分离彻底解耦计算密集与访存密集负载</a:t>
              </a:r>
            </a:p>
          </p:txBody>
        </p:sp>
      </p:grpSp>
      <p:grpSp>
        <p:nvGrpSpPr>
          <p:cNvPr id="45" name="two-panels"/>
          <p:cNvGrpSpPr/>
          <p:nvPr/>
        </p:nvGrpSpPr>
        <p:grpSpPr>
          <a:xfrm>
            <a:off x="571500" y="1285875"/>
            <a:ext cx="11049000" cy="5000625"/>
            <a:chOff x="571500" y="1285875"/>
            <a:chExt cx="11049000" cy="5000625"/>
          </a:xfrm>
        </p:grpSpPr>
        <p:sp>
          <p:nvSpPr>
            <p:cNvPr id="11" name="Rectangle 11"/>
            <p:cNvSpPr/>
            <p:nvPr/>
          </p:nvSpPr>
          <p:spPr>
            <a:xfrm>
              <a:off x="571500" y="1285875"/>
              <a:ext cx="5381625" cy="5000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85875"/>
              <a:ext cx="5381625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2488" y="1522095"/>
              <a:ext cx="31922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MEMORY GOVERNANCE · PAGEDATTENTION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1743075"/>
              <a:ext cx="32623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虚拟内存分页：根除 60%+ KV 碎片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57250" y="2076450"/>
              <a:ext cx="4810125" cy="9525"/>
            </a:xfrm>
            <a:custGeom>
              <a:avLst/>
              <a:gdLst/>
              <a:ahLst/>
              <a:cxnLst/>
              <a:rect l="l" t="t" r="r" b="b"/>
              <a:pathLst>
                <a:path w="4810125" h="9525">
                  <a:moveTo>
                    <a:pt x="0" y="0"/>
                  </a:moveTo>
                  <a:lnTo>
                    <a:pt x="48101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57250" y="2238375"/>
              <a:ext cx="4810125" cy="714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2988" y="2435066"/>
              <a:ext cx="19404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MEMORY FRAGMENTATION RATE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7082" y="2583180"/>
              <a:ext cx="19071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68.2% → 3.8%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43238" y="2712720"/>
              <a:ext cx="11761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chemeClr val="accent2"/>
                </a:buClr>
                <a:buSzTx/>
                <a:buFontTx/>
                <a:buChar char="•"/>
              </a:pPr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接近理论零碎片极限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1535" y="3117056"/>
              <a:ext cx="18375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传统连续分配的核心痛点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2297" y="3371374"/>
              <a:ext cx="3726904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传统 Serving 必须按请求最大输出长度提前静态预留显存，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导致巨额内部空洞碎片；请求提前结束时浪费显存高达 60%~80%。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1535" y="3879056"/>
              <a:ext cx="20995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PagedAttention 块表动态射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2297" y="4133374"/>
              <a:ext cx="3785400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借鉴操作系统虚拟内存机制，将 KV Cache 划分为固定大小物理块；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逻辑连续的 Token 物理上打散分布在离散页面中，按需申请与回收。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1535" y="4641056"/>
              <a:ext cx="29115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 动态连续批处理 (Continuous Batching)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2297" y="4895374"/>
              <a:ext cx="3972090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请求级别迭代调度，新请求即时加入运行 Batch，已完结请求实时释放，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单卡有效并发容量提升 2.5~4 倍。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57250" y="5619750"/>
              <a:ext cx="4810125" cy="428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95362" y="5789295"/>
              <a:ext cx="33007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显存利用率由 30% 跃升至 96%，大模型服务吞吐全面翻倍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143625" y="1285875"/>
              <a:ext cx="5476875" cy="5000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43625" y="1285875"/>
              <a:ext cx="5476875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24612" y="1522095"/>
              <a:ext cx="3736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SERVICING DISAGGREGATION · PREFILL &amp; DECODE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1755" y="1743075"/>
              <a:ext cx="36017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PD 物理分离架构：解耦计算与访存冲突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429375" y="2076450"/>
              <a:ext cx="4905375" cy="9525"/>
            </a:xfrm>
            <a:custGeom>
              <a:avLst/>
              <a:gdLst/>
              <a:ahLst/>
              <a:cxnLst/>
              <a:rect l="l" t="t" r="r" b="b"/>
              <a:pathLst>
                <a:path w="4905375" h="9525">
                  <a:moveTo>
                    <a:pt x="0" y="0"/>
                  </a:moveTo>
                  <a:lnTo>
                    <a:pt x="49053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29375" y="2238375"/>
              <a:ext cx="4905375" cy="714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15112" y="2435066"/>
              <a:ext cx="23748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SERVING P99 TAIL LATENCY REDUCTION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09207" y="2583180"/>
              <a:ext cx="23790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1240ms → 280ms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86862" y="2712720"/>
              <a:ext cx="9879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6200" indent="-76200">
                <a:buClr>
                  <a:schemeClr val="accent2"/>
                </a:buClr>
                <a:buSzTx/>
                <a:buFontTx/>
                <a:buChar char="•"/>
              </a:pPr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降幅高达 -77.4%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23660" y="3117056"/>
              <a:ext cx="2033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Prefill 与 Decode 本质冲突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24422" y="3371374"/>
              <a:ext cx="4000069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Prefill 为计算密集型（大 GEMM、压满 Tensor Core，耗时数十毫秒）；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Decode 为访存密集型（逐 Token 自回归生成，极度敏感延时与带宽）。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混跑导致 Decode 持续被 Prefill 抢占，产生严重长尾毛刺。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23660" y="4069556"/>
              <a:ext cx="16868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物理资源池化隔离架构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4422" y="4323874"/>
              <a:ext cx="3965369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构建独立的 Prefill 集群专攻高并行吞吐，Decode 集群专攻毫秒级响应；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通过 Chunked Prefill 消除长时间占用，实现微秒级颗粒度交错。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3660" y="4831556"/>
              <a:ext cx="2562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 跨机 RDMA KV Cache 零拷贝流转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4422" y="5085874"/>
              <a:ext cx="3661139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Prefill 节点完成首字生成后，通过 RDMA 直接将 KV Cache 推送至</a:t>
              </a:r>
              <a:br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Decode 节点显存，传输耗时小于 2ms，完全无感切分。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29375" y="5619750"/>
              <a:ext cx="4905375" cy="428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67488" y="5789295"/>
              <a:ext cx="34124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彻底攻克长文本高并发高长尾痛点，生产环境 SLO 稳固履约</a:t>
              </a:r>
            </a:p>
          </p:txBody>
        </p:sp>
      </p:grpSp>
      <p:grpSp>
        <p:nvGrpSpPr>
          <p:cNvPr id="49" name="system-footer"/>
          <p:cNvGrpSpPr/>
          <p:nvPr/>
        </p:nvGrpSpPr>
        <p:grpSpPr>
          <a:xfrm>
            <a:off x="566738" y="6524625"/>
            <a:ext cx="11058525" cy="244316"/>
            <a:chOff x="566738" y="6524625"/>
            <a:chExt cx="11058525" cy="244316"/>
          </a:xfrm>
        </p:grpSpPr>
        <p:sp>
          <p:nvSpPr>
            <p:cNvPr id="46" name="Line 46"/>
            <p:cNvSpPr/>
            <p:nvPr/>
          </p:nvSpPr>
          <p:spPr>
            <a:xfrm>
              <a:off x="571500" y="6524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6738" y="6607016"/>
              <a:ext cx="41702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ENTERPRISE LARGE MODEL COMPUTING PLATFORM DELIVERY REPORT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78148" y="6607016"/>
              <a:ext cx="3471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ystem-header"/>
          <p:cNvGrpSpPr/>
          <p:nvPr/>
        </p:nvGrpSpPr>
        <p:grpSpPr>
          <a:xfrm>
            <a:off x="566738" y="244316"/>
            <a:ext cx="11058524" cy="193834"/>
            <a:chOff x="566738" y="244316"/>
            <a:chExt cx="11058524" cy="193834"/>
          </a:xfrm>
        </p:grpSpPr>
        <p:sp>
          <p:nvSpPr>
            <p:cNvPr id="2" name="Line 2"/>
            <p:cNvSpPr/>
            <p:nvPr/>
          </p:nvSpPr>
          <p:spPr>
            <a:xfrm>
              <a:off x="571500" y="428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738" y="244316"/>
              <a:ext cx="28541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/ BENCHMARK &amp; PRODUCTION METRICS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43238" y="244316"/>
              <a:ext cx="38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186112" y="244316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生产环境性能实测对比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775512" y="244316"/>
              <a:ext cx="18497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NATIVE EDITABLE DATA CHART</a:t>
              </a:r>
            </a:p>
          </p:txBody>
        </p:sp>
      </p:grpSp>
      <p:grpSp>
        <p:nvGrpSpPr>
          <p:cNvPr id="10" name="title-block"/>
          <p:cNvGrpSpPr/>
          <p:nvPr/>
        </p:nvGrpSpPr>
        <p:grpSpPr>
          <a:xfrm>
            <a:off x="560832" y="582930"/>
            <a:ext cx="6315963" cy="575881"/>
            <a:chOff x="560832" y="582930"/>
            <a:chExt cx="6315963" cy="575881"/>
          </a:xfrm>
        </p:grpSpPr>
        <p:sp>
          <p:nvSpPr>
            <p:cNvPr id="8" name="TextBox 8"/>
            <p:cNvSpPr txBox="1"/>
            <p:nvPr/>
          </p:nvSpPr>
          <p:spPr>
            <a:xfrm>
              <a:off x="560832" y="582930"/>
              <a:ext cx="564022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生产基准评测：集群 MFU 与端到端延迟对比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953452"/>
              <a:ext cx="6310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万卡集群训练 MFU 提升至 62.8%，在线推理 P99 延迟降低 77.4%，全链路性能达标世界级工业标准</a:t>
              </a:r>
            </a:p>
          </p:txBody>
        </p:sp>
      </p:grpSp>
      <p:graphicFrame>
        <p:nvGraphicFramePr>
          <p:cNvPr id="11" name="benchmark_chart"/>
          <p:cNvGraphicFramePr>
            <a:graphicFrameLocks noGrp="1"/>
          </p:cNvGraphicFramePr>
          <p:nvPr/>
        </p:nvGraphicFramePr>
        <p:xfrm>
          <a:off x="571500" y="1285875"/>
          <a:ext cx="6953250" cy="50006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35" name="right-metric-cards"/>
          <p:cNvGrpSpPr/>
          <p:nvPr/>
        </p:nvGrpSpPr>
        <p:grpSpPr>
          <a:xfrm>
            <a:off x="7715250" y="1285875"/>
            <a:ext cx="3905250" cy="5000625"/>
            <a:chOff x="7715250" y="1285875"/>
            <a:chExt cx="3905250" cy="5000625"/>
          </a:xfrm>
        </p:grpSpPr>
        <p:sp>
          <p:nvSpPr>
            <p:cNvPr id="12" name="Rectangle 12"/>
            <p:cNvSpPr/>
            <p:nvPr/>
          </p:nvSpPr>
          <p:spPr>
            <a:xfrm>
              <a:off x="7715250" y="1285875"/>
              <a:ext cx="3905250" cy="5000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715250" y="1285875"/>
              <a:ext cx="390525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48612" y="1522095"/>
              <a:ext cx="22073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QUANTIFIED BUSINESS VALUE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5755" y="17430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工程交付量化突破与收益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7953375" y="20764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953375" y="2238375"/>
              <a:ext cx="3429000" cy="809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39112" y="2387441"/>
              <a:ext cx="12553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万卡有效算力提升 (MFU)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33207" y="2583180"/>
              <a:ext cx="9880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+63.1%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29738" y="2712720"/>
              <a:ext cx="128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 38.5% 飙升至 62.8%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39112" y="2863691"/>
              <a:ext cx="22788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等效为企业节省 38% 以上总算力集群机时成本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53375" y="3190875"/>
              <a:ext cx="3429000" cy="809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39112" y="3339941"/>
              <a:ext cx="12102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推理长尾延迟压制 (P99)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33207" y="3535680"/>
              <a:ext cx="9171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-77.4%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29738" y="3665220"/>
              <a:ext cx="12686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 1240ms 降至 280ms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39112" y="3816191"/>
              <a:ext cx="22217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彻底消除高并发长文本下 Decode 被抢占毛刺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953375" y="4143375"/>
              <a:ext cx="3429000" cy="8096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39112" y="4292441"/>
              <a:ext cx="13265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单点故障恢复时长 (MTTR)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33207" y="4488180"/>
              <a:ext cx="7288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27.5x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86862" y="4617720"/>
              <a:ext cx="11204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 45min 压缩至 98s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39112" y="4768691"/>
              <a:ext cx="23708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万卡集群全年有效训练可用性维持在 99.8% 以上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953375" y="5095875"/>
              <a:ext cx="3429000" cy="9525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38922" y="527637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验收专家组综合评价：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39112" y="5522595"/>
              <a:ext cx="2562187" cy="3857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“平台在超大规模并行度与在线高可用之间取得了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完美工程平衡，各项指标均已达到世界一线标准。”</a:t>
              </a:r>
            </a:p>
          </p:txBody>
        </p:sp>
      </p:grpSp>
      <p:grpSp>
        <p:nvGrpSpPr>
          <p:cNvPr id="39" name="system-footer"/>
          <p:cNvGrpSpPr/>
          <p:nvPr/>
        </p:nvGrpSpPr>
        <p:grpSpPr>
          <a:xfrm>
            <a:off x="566738" y="6524625"/>
            <a:ext cx="11058525" cy="244316"/>
            <a:chOff x="566738" y="6524625"/>
            <a:chExt cx="11058525" cy="244316"/>
          </a:xfrm>
        </p:grpSpPr>
        <p:sp>
          <p:nvSpPr>
            <p:cNvPr id="36" name="Line 36"/>
            <p:cNvSpPr/>
            <p:nvPr/>
          </p:nvSpPr>
          <p:spPr>
            <a:xfrm>
              <a:off x="571500" y="6524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6738" y="6607016"/>
              <a:ext cx="41702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ENTERPRISE LARGE MODEL COMPUTING PLATFORM DELIVERY REPORT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78148" y="6607016"/>
              <a:ext cx="3471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07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ystem-header"/>
          <p:cNvGrpSpPr/>
          <p:nvPr/>
        </p:nvGrpSpPr>
        <p:grpSpPr>
          <a:xfrm>
            <a:off x="566738" y="244316"/>
            <a:ext cx="11058524" cy="193834"/>
            <a:chOff x="566738" y="244316"/>
            <a:chExt cx="11058524" cy="193834"/>
          </a:xfrm>
        </p:grpSpPr>
        <p:sp>
          <p:nvSpPr>
            <p:cNvPr id="2" name="Line 2"/>
            <p:cNvSpPr/>
            <p:nvPr/>
          </p:nvSpPr>
          <p:spPr>
            <a:xfrm>
              <a:off x="571500" y="428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738" y="244316"/>
              <a:ext cx="24874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 / CLOUD-NATIVE ORCHESTRATION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95612" y="244316"/>
              <a:ext cx="38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138488" y="244316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云原生调度与高可用自愈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53823" y="244316"/>
              <a:ext cx="22714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GANG SCHEDULING &amp; 100S RECOVERY</a:t>
              </a:r>
            </a:p>
          </p:txBody>
        </p:sp>
      </p:grpSp>
      <p:grpSp>
        <p:nvGrpSpPr>
          <p:cNvPr id="10" name="title-block"/>
          <p:cNvGrpSpPr/>
          <p:nvPr/>
        </p:nvGrpSpPr>
        <p:grpSpPr>
          <a:xfrm>
            <a:off x="560832" y="582930"/>
            <a:ext cx="7192294" cy="575881"/>
            <a:chOff x="560832" y="582930"/>
            <a:chExt cx="7192294" cy="575881"/>
          </a:xfrm>
        </p:grpSpPr>
        <p:sp>
          <p:nvSpPr>
            <p:cNvPr id="8" name="TextBox 8"/>
            <p:cNvSpPr txBox="1"/>
            <p:nvPr/>
          </p:nvSpPr>
          <p:spPr>
            <a:xfrm>
              <a:off x="560832" y="582930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云原生调度中枢：动态配额与百秒自愈体系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953452"/>
              <a:ext cx="7186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以 Gang 调度防死锁与 HAMi 硬隔离保障多租户公平，结合 3FS 高性能存储实现 100s 级 XID 故障全自动无感自愈</a:t>
              </a:r>
            </a:p>
          </p:txBody>
        </p:sp>
      </p:grpSp>
      <p:grpSp>
        <p:nvGrpSpPr>
          <p:cNvPr id="39" name="four-quadrants"/>
          <p:cNvGrpSpPr/>
          <p:nvPr/>
        </p:nvGrpSpPr>
        <p:grpSpPr>
          <a:xfrm>
            <a:off x="571500" y="1285875"/>
            <a:ext cx="11049000" cy="5000625"/>
            <a:chOff x="571500" y="1285875"/>
            <a:chExt cx="11049000" cy="5000625"/>
          </a:xfrm>
        </p:grpSpPr>
        <p:sp>
          <p:nvSpPr>
            <p:cNvPr id="11" name="Rectangle 11"/>
            <p:cNvSpPr/>
            <p:nvPr/>
          </p:nvSpPr>
          <p:spPr>
            <a:xfrm>
              <a:off x="571500" y="1285875"/>
              <a:ext cx="5381625" cy="2381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85875"/>
              <a:ext cx="5381625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862" y="1474470"/>
              <a:ext cx="31035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SCHEDULING 01 · DEADLOCK PREVENTION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2767" y="1711642"/>
              <a:ext cx="2767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拓扑感知与 Gang 防死锁调度中枢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09625" y="2000250"/>
              <a:ext cx="4905375" cy="9525"/>
            </a:xfrm>
            <a:custGeom>
              <a:avLst/>
              <a:gdLst/>
              <a:ahLst/>
              <a:cxnLst/>
              <a:rect l="l" t="t" r="r" b="b"/>
              <a:pathLst>
                <a:path w="4905375" h="9525">
                  <a:moveTo>
                    <a:pt x="0" y="0"/>
                  </a:moveTo>
                  <a:lnTo>
                    <a:pt x="49053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4672" y="2133124"/>
              <a:ext cx="4534612" cy="590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lnSpc>
                  <a:spcPts val="157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K8s DRA 硬件拓扑感知：精确对齐 NVLink 域与 Rail 交换机平面；</a:t>
              </a:r>
            </a:p>
            <a:p>
              <a:pPr algn="l" marL="78148" indent="-78148">
                <a:lnSpc>
                  <a:spcPts val="157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Gang 调度原语 (All-or-Nothing)：作业全量就绪才触发分配，彻底根除死锁；</a:t>
              </a:r>
            </a:p>
            <a:p>
              <a:pPr algn="l" marL="78148" indent="-78148">
                <a:lnSpc>
                  <a:spcPts val="157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Kueue 弹性配额借还：多租户空闲资源动态超分流转，提升 35% 集群总周转率。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4862" y="2950845"/>
              <a:ext cx="32388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万卡作业排队零阻塞，分布式训练 Pod 启停一致性 100%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38875" y="1285875"/>
              <a:ext cx="5381625" cy="2381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38875" y="1285875"/>
              <a:ext cx="5381625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72238" y="1474470"/>
              <a:ext cx="26339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ISOLATION 02 · HARDWARE SLICING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0142" y="1711642"/>
              <a:ext cx="2807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HAMi 显存硬隔离与双优先级 QoS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477000" y="2000250"/>
              <a:ext cx="4905375" cy="9525"/>
            </a:xfrm>
            <a:custGeom>
              <a:avLst/>
              <a:gdLst/>
              <a:ahLst/>
              <a:cxnLst/>
              <a:rect l="l" t="t" r="r" b="b"/>
              <a:pathLst>
                <a:path w="4905375" h="9525">
                  <a:moveTo>
                    <a:pt x="0" y="0"/>
                  </a:moveTo>
                  <a:lnTo>
                    <a:pt x="49053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72047" y="2133124"/>
              <a:ext cx="4319694" cy="590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lnSpc>
                  <a:spcPts val="157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驱动级显存硬隔离：彻底杜绝多租户容器间显存 OOM 相互穿透雪崩；</a:t>
              </a:r>
            </a:p>
            <a:p>
              <a:pPr algn="l" marL="78148" indent="-78148">
                <a:lnSpc>
                  <a:spcPts val="157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动态微算力切分：轻量评估任务与主干训练弹性混部，算力复用率达 88%；</a:t>
              </a:r>
            </a:p>
            <a:p>
              <a:pPr algn="l" marL="78148" indent="-78148">
                <a:lnSpc>
                  <a:spcPts val="157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双优先级保障体系：核心基座模型训练任务享有毫秒级抢占与资源保活特权。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2238" y="2950845"/>
              <a:ext cx="32127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消除“邻居干扰 (Noisy Neighbor)”，生产 SLA 严格锁定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" y="3905250"/>
              <a:ext cx="5381625" cy="2381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" y="3905250"/>
              <a:ext cx="5381625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4862" y="4093845"/>
              <a:ext cx="32990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STORAGE 03 · DISTRIBUTED CHECKPOINTING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2767" y="4331018"/>
              <a:ext cx="2600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3FS 极速分布式检查点存储底座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09625" y="4619625"/>
              <a:ext cx="4905375" cy="9525"/>
            </a:xfrm>
            <a:custGeom>
              <a:avLst/>
              <a:gdLst/>
              <a:ahLst/>
              <a:cxnLst/>
              <a:rect l="l" t="t" r="r" b="b"/>
              <a:pathLst>
                <a:path w="4905375" h="9525">
                  <a:moveTo>
                    <a:pt x="0" y="0"/>
                  </a:moveTo>
                  <a:lnTo>
                    <a:pt x="49053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4672" y="4752499"/>
              <a:ext cx="4319694" cy="590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lnSpc>
                  <a:spcPts val="157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瞬时百 GB 写入：支持 70B/405B 模型权重与优化器状态秒级无阻塞落盘；</a:t>
              </a:r>
            </a:p>
            <a:p>
              <a:pPr algn="l" marL="78148" indent="-78148">
                <a:lnSpc>
                  <a:spcPts val="157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零元数据瓶颈架构：万卡节点并行并发读取 Checkpoint，无 I/O 排队阻塞；</a:t>
              </a:r>
            </a:p>
            <a:p>
              <a:pPr algn="l" marL="78148" indent="-78148">
                <a:lnSpc>
                  <a:spcPts val="157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存储与计算彻底解耦：算力节点故障不丢失任何状态，为秒级自愈筑牢防线。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4862" y="5570220"/>
              <a:ext cx="28880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Checkpoint 保存耗时从数十分钟压缩至 65 秒以内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38875" y="3905250"/>
              <a:ext cx="5381625" cy="2381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38875" y="3905250"/>
              <a:ext cx="5381625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72238" y="4093845"/>
              <a:ext cx="31991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HIGH AVAILABILITY 04 · FULLY AUTOMATED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142" y="4331018"/>
              <a:ext cx="26213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百秒级 XID 故障全自动无感自愈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477000" y="4619625"/>
              <a:ext cx="4905375" cy="9525"/>
            </a:xfrm>
            <a:custGeom>
              <a:avLst/>
              <a:gdLst/>
              <a:ahLst/>
              <a:cxnLst/>
              <a:rect l="l" t="t" r="r" b="b"/>
              <a:pathLst>
                <a:path w="4905375" h="9525">
                  <a:moveTo>
                    <a:pt x="0" y="0"/>
                  </a:moveTo>
                  <a:lnTo>
                    <a:pt x="49053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72047" y="4752499"/>
              <a:ext cx="4282481" cy="590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lnSpc>
                  <a:spcPts val="157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秒级异常探测：内核实时捕获 XID 48/63/79 掉卡与落后卡 (3s)；</a:t>
              </a:r>
            </a:p>
            <a:p>
              <a:pPr algn="l" marL="78148" indent="-78148">
                <a:lnSpc>
                  <a:spcPts val="157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智能隔离与替换：自动隔离不良卡并从温备节点池无感热换 (15s)；</a:t>
              </a:r>
            </a:p>
            <a:p>
              <a:pPr algn="l" marL="78148" indent="-78148">
                <a:lnSpc>
                  <a:spcPts val="1575"/>
                </a:lnSpc>
                <a:buClr>
                  <a:schemeClr val="accent3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3FS 热加载断点续训：重组通信环并快速加载最新 Checkpoint (65s + 15s)。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72238" y="5570220"/>
              <a:ext cx="33612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全流程平均耗时 98 秒，告别 45 分钟人工半夜起夜运维历史</a:t>
              </a:r>
            </a:p>
          </p:txBody>
        </p:sp>
      </p:grpSp>
      <p:grpSp>
        <p:nvGrpSpPr>
          <p:cNvPr id="43" name="system-footer"/>
          <p:cNvGrpSpPr/>
          <p:nvPr/>
        </p:nvGrpSpPr>
        <p:grpSpPr>
          <a:xfrm>
            <a:off x="566738" y="6524625"/>
            <a:ext cx="11058525" cy="244316"/>
            <a:chOff x="566738" y="6524625"/>
            <a:chExt cx="11058525" cy="244316"/>
          </a:xfrm>
        </p:grpSpPr>
        <p:sp>
          <p:nvSpPr>
            <p:cNvPr id="40" name="Line 40"/>
            <p:cNvSpPr/>
            <p:nvPr/>
          </p:nvSpPr>
          <p:spPr>
            <a:xfrm>
              <a:off x="571500" y="6524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6738" y="6607016"/>
              <a:ext cx="41702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ENTERPRISE LARGE MODEL COMPUTING PLATFORM DELIVERY REPORT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78148" y="6607016"/>
              <a:ext cx="3471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08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ystem-header"/>
          <p:cNvGrpSpPr/>
          <p:nvPr/>
        </p:nvGrpSpPr>
        <p:grpSpPr>
          <a:xfrm>
            <a:off x="566738" y="244316"/>
            <a:ext cx="11058525" cy="193834"/>
            <a:chOff x="566738" y="244316"/>
            <a:chExt cx="11058525" cy="193834"/>
          </a:xfrm>
        </p:grpSpPr>
        <p:sp>
          <p:nvSpPr>
            <p:cNvPr id="2" name="Line 2"/>
            <p:cNvSpPr/>
            <p:nvPr/>
          </p:nvSpPr>
          <p:spPr>
            <a:xfrm>
              <a:off x="571500" y="428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738" y="244316"/>
              <a:ext cx="23625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08 / SLA ACCEPTANCE &amp; ROADMAP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757488" y="244316"/>
              <a:ext cx="382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900362" y="244316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工程交付结项与验收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235271" y="244316"/>
              <a:ext cx="13899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100% SLA COMPLIANCE</a:t>
              </a:r>
            </a:p>
          </p:txBody>
        </p:sp>
      </p:grpSp>
      <p:grpSp>
        <p:nvGrpSpPr>
          <p:cNvPr id="10" name="title-block"/>
          <p:cNvGrpSpPr/>
          <p:nvPr/>
        </p:nvGrpSpPr>
        <p:grpSpPr>
          <a:xfrm>
            <a:off x="560832" y="582930"/>
            <a:ext cx="6368731" cy="575881"/>
            <a:chOff x="560832" y="582930"/>
            <a:chExt cx="6368731" cy="575881"/>
          </a:xfrm>
        </p:grpSpPr>
        <p:sp>
          <p:nvSpPr>
            <p:cNvPr id="8" name="TextBox 8"/>
            <p:cNvSpPr txBox="1"/>
            <p:nvPr/>
          </p:nvSpPr>
          <p:spPr>
            <a:xfrm>
              <a:off x="560832" y="582930"/>
              <a:ext cx="52249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交付成果清册、SLA 达标矩阵与未来演进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166" y="953452"/>
              <a:ext cx="6363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全套 49 篇生产级工程讲义与 Capstone 项目 100% 交付，各项指标全面超越既定 SLA，平台正式投产</a:t>
              </a:r>
            </a:p>
          </p:txBody>
        </p:sp>
      </p:grpSp>
      <p:grpSp>
        <p:nvGrpSpPr>
          <p:cNvPr id="75" name="acceptance-split"/>
          <p:cNvGrpSpPr/>
          <p:nvPr/>
        </p:nvGrpSpPr>
        <p:grpSpPr>
          <a:xfrm>
            <a:off x="571500" y="1285875"/>
            <a:ext cx="11049000" cy="5000625"/>
            <a:chOff x="571500" y="1285875"/>
            <a:chExt cx="11049000" cy="5000625"/>
          </a:xfrm>
        </p:grpSpPr>
        <p:sp>
          <p:nvSpPr>
            <p:cNvPr id="11" name="Rectangle 11"/>
            <p:cNvSpPr/>
            <p:nvPr/>
          </p:nvSpPr>
          <p:spPr>
            <a:xfrm>
              <a:off x="571500" y="1285875"/>
              <a:ext cx="6477000" cy="5000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" y="1285875"/>
              <a:ext cx="6477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862" y="1522095"/>
              <a:ext cx="28614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ACCEPTANCE MATRIX · VERIFIED DATA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2005" y="1743075"/>
              <a:ext cx="29836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工程交付 SLA 验收达标对比清单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09625" y="2076450"/>
              <a:ext cx="6000750" cy="9525"/>
            </a:xfrm>
            <a:custGeom>
              <a:avLst/>
              <a:gdLst/>
              <a:ahLst/>
              <a:cxnLst/>
              <a:rect l="l" t="t" r="r" b="b"/>
              <a:pathLst>
                <a:path w="6000750" h="9525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09625" y="2238375"/>
              <a:ext cx="600075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95362" y="236029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验收核心考核项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43238" y="2360295"/>
              <a:ext cx="821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约定 SLA 门限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76738" y="23602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实际验收值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53671" y="2360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判定结果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9625" y="2581275"/>
              <a:ext cx="6000750" cy="4572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E9ECE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5172" y="2761774"/>
              <a:ext cx="14447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万卡集群 MFU 有效算力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43047" y="2761774"/>
              <a:ext cx="4930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≥ 50.0%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76166" y="2753678"/>
              <a:ext cx="11102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62.8% (超额达成)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47771" y="2769870"/>
              <a:ext cx="7059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PASSED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" y="3038475"/>
              <a:ext cx="6000750" cy="457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E9ECE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95172" y="3218974"/>
              <a:ext cx="13908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在线推理 P99 尾部延迟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43047" y="3218974"/>
              <a:ext cx="5516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≤ 500 ms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76166" y="3210878"/>
              <a:ext cx="11889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280 ms (优于标准)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47771" y="3227070"/>
              <a:ext cx="7059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PASSED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9625" y="3495675"/>
              <a:ext cx="6000750" cy="4572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E9ECE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95172" y="3676174"/>
              <a:ext cx="1194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Serving 显存碎片率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43047" y="3676174"/>
              <a:ext cx="4930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≤ 10.0%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76166" y="3668078"/>
              <a:ext cx="1031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3.8% (彻底治理)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47771" y="3684270"/>
              <a:ext cx="7059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PASSED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9625" y="3952875"/>
              <a:ext cx="6000750" cy="457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E9ECE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95172" y="4133374"/>
              <a:ext cx="17158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单点故障全自动自愈 (MTTR)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43047" y="4133374"/>
              <a:ext cx="5076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≤ 300 秒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76166" y="4125278"/>
              <a:ext cx="10473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98 秒 (百秒自愈)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47771" y="4141470"/>
              <a:ext cx="7059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PASSED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09625" y="4410075"/>
              <a:ext cx="6000750" cy="4572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E9ECE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95172" y="4590574"/>
              <a:ext cx="1518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3D+MoE 万卡线性扩展比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43047" y="4590574"/>
              <a:ext cx="4930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≥ 88.0%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376166" y="4582478"/>
              <a:ext cx="12516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92.4% (无通信悬崖)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47771" y="4598670"/>
              <a:ext cx="7059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PASSED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09625" y="4867275"/>
              <a:ext cx="6000750" cy="457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E9ECE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95172" y="5047774"/>
              <a:ext cx="18764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工程讲义与 Capstone 源码交付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43047" y="5047774"/>
              <a:ext cx="9117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100% 完结归档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76166" y="5039678"/>
              <a:ext cx="13342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44 篇长文 + 5 大顶石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647771" y="5055870"/>
              <a:ext cx="7059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PASSED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09625" y="5476875"/>
              <a:ext cx="6000750" cy="5715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94791" y="5649278"/>
              <a:ext cx="45499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验收专家组结论：全套交付物 100% 达标通过，准予即刻全量投产运行！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95362" y="5864066"/>
              <a:ext cx="25583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签署人：AI Infra 算力架构交付专家组 · 2026 年 9 月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239000" y="1285875"/>
              <a:ext cx="4381500" cy="5000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239000" y="1285875"/>
              <a:ext cx="43815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72362" y="1522095"/>
              <a:ext cx="2786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ARCHITECTURAL ASSETS &amp; ROADMAP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69505" y="17430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交付资产归档与下一代演进规划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7477125" y="2076450"/>
              <a:ext cx="3905250" cy="9525"/>
            </a:xfrm>
            <a:custGeom>
              <a:avLst/>
              <a:gdLst/>
              <a:ahLst/>
              <a:cxnLst/>
              <a:rect l="l" t="t" r="r" b="b"/>
              <a:pathLst>
                <a:path w="3905250" h="9525">
                  <a:moveTo>
                    <a:pt x="0" y="0"/>
                  </a:moveTo>
                  <a:lnTo>
                    <a:pt x="39052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71791" y="22202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已交付核心工程资产：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477125" y="2457450"/>
              <a:ext cx="3905250" cy="9048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62862" y="2598420"/>
              <a:ext cx="22376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1. 全套九大系统分篇 · 44 篇万字长文讲义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62862" y="2797016"/>
              <a:ext cx="25871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涵盖微架构、算子、3D并行、推理优化与云原生全栈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62862" y="2998470"/>
              <a:ext cx="22017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2. 5 大工业级 Capstone 顶石项目源码库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62862" y="3178016"/>
              <a:ext cx="28235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包含万卡 Scaling Study 仿真与企业级调度自愈 RFC 规范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71791" y="3553778"/>
              <a:ext cx="21447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下一代 AI Infra 技术演进路线图：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477125" y="3810000"/>
              <a:ext cx="3905250" cy="6191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662862" y="3931920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阶段一：异构芯片统一计算网格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62862" y="4130516"/>
              <a:ext cx="27610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构建针对 GPU/NPU/DPU 的统一编译器后端与算子抽象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477125" y="4524375"/>
              <a:ext cx="3905250" cy="6191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62862" y="4646295"/>
              <a:ext cx="26063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阶段二：1M+ 极长上下文自适应 CP 动态流水线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62862" y="4844891"/>
              <a:ext cx="29900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基于动态通信感知的自适应分块流水线，支撑千亿级超长文本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477125" y="5238750"/>
              <a:ext cx="3905250" cy="809625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662862" y="536067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结语：滴水穿石，非一日之功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662862" y="5578316"/>
              <a:ext cx="2508885" cy="352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算力基础设施坚实底座全面就绪，</a:t>
              </a:r>
              <a:br/>
              <a:r>
                <a:rPr lang="zh-CN" sz="8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全面赋能下一代企业级大模型研发与业务规模化腾飞！</a:t>
              </a:r>
            </a:p>
          </p:txBody>
        </p:sp>
      </p:grpSp>
      <p:grpSp>
        <p:nvGrpSpPr>
          <p:cNvPr id="79" name="system-footer"/>
          <p:cNvGrpSpPr/>
          <p:nvPr/>
        </p:nvGrpSpPr>
        <p:grpSpPr>
          <a:xfrm>
            <a:off x="566738" y="6524625"/>
            <a:ext cx="11058525" cy="244316"/>
            <a:chOff x="566738" y="6524625"/>
            <a:chExt cx="11058525" cy="244316"/>
          </a:xfrm>
        </p:grpSpPr>
        <p:sp>
          <p:nvSpPr>
            <p:cNvPr id="76" name="Line 76"/>
            <p:cNvSpPr/>
            <p:nvPr/>
          </p:nvSpPr>
          <p:spPr>
            <a:xfrm>
              <a:off x="571500" y="6524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66738" y="6607016"/>
              <a:ext cx="41702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ENTERPRISE LARGE MODEL COMPUTING PLATFORM DELIVERY REPORT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112103" y="6607016"/>
              <a:ext cx="15131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09 / 09 · FINAL DELIVERED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nterprise_llm_platform">
  <a:themeElements>
    <a:clrScheme name="enterprise_llm_platform">
      <a:dk1>
        <a:srgbClr val="0B0D12"/>
      </a:dk1>
      <a:lt1>
        <a:srgbClr val="FFFFFF"/>
      </a:lt1>
      <a:dk2>
        <a:srgbClr val="0B0D12"/>
      </a:dk2>
      <a:lt2>
        <a:srgbClr val="F8F9FA"/>
      </a:lt2>
      <a:accent1>
        <a:srgbClr val="0B0D12"/>
      </a:accent1>
      <a:accent2>
        <a:srgbClr val="0038FF"/>
      </a:accent2>
      <a:accent3>
        <a:srgbClr val="495057"/>
      </a:accent3>
      <a:accent4>
        <a:srgbClr val="0B0D12"/>
      </a:accent4>
      <a:accent5>
        <a:srgbClr val="6C757D"/>
      </a:accent5>
      <a:accent6>
        <a:srgbClr val="DEE2E6"/>
      </a:accent6>
      <a:hlink>
        <a:srgbClr val="0038FF"/>
      </a:hlink>
      <a:folHlink>
        <a:srgbClr val="495057"/>
      </a:folHlink>
    </a:clrScheme>
    <a:fontScheme name="enterprise_llm_platfor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terprise_llm_platfor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2026-09-23T03:03:44Z</dcterms:created>
  <dcterms:modified xsi:type="dcterms:W3CDTF">2026-09-23T03:03:44Z</dcterms:modified>
  <cp:category/>
  <cp:contentStatus/>
</cp:coreProperties>
</file>